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j789\.gemini\antigravity\scratch\skillbridge-ayush\assets\sih\tea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1828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63040" y="62179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1800" dirty="0"/>
          </a:p>
        </p:txBody>
      </p:sp>
      <p:pic>
        <p:nvPicPr>
          <p:cNvPr id="5" name="Image 1" descr="C:\Users\vj789\.gemini\antigravity\scratch\skillbridge-ayush\assets\sih\sih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3716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4630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Problem Statement ID – </a:t>
            </a:r>
            <a:pPr indent="0" marL="0">
              <a:buNone/>
            </a:pPr>
            <a:r>
              <a:rPr lang="en-US" sz="1050" b="1" u="sng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SIH26044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1865376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Problem Statement Title - </a:t>
            </a:r>
            <a:pPr indent="0" marL="0">
              <a:buNone/>
            </a:pPr>
            <a:r>
              <a:rPr lang="en-US" sz="1050" b="1" i="1" u="sng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Academia–Industry Collaboration Portal for Skill Mapping, Internships and Placement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24871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Ministry / Organization - </a:t>
            </a:r>
            <a:pPr indent="0" marL="0">
              <a:buNone/>
            </a:pPr>
            <a:r>
              <a:rPr lang="en-US" sz="1050" b="1" u="sng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Ministry of Ayush, Government of India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288950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Theme - </a:t>
            </a:r>
            <a:pPr indent="0" marL="0">
              <a:buNone/>
            </a:pPr>
            <a:r>
              <a:rPr lang="en-US" sz="1050" b="1" i="1" u="sng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Automation / EdTech / HealthTech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32918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PS Category- </a:t>
            </a:r>
            <a:pPr indent="0" marL="0">
              <a:buNone/>
            </a:pPr>
            <a:r>
              <a:rPr lang="en-US" sz="1050" b="1" u="sng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369417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Team ID- </a:t>
            </a:r>
            <a:pPr indent="0" marL="0">
              <a:buNone/>
            </a:pPr>
            <a:r>
              <a:rPr lang="en-US" sz="1050" b="1" u="sng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SIH26-AYUSH-55396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409651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Team Name - </a:t>
            </a:r>
            <a:pPr indent="0" marL="0">
              <a:buNone/>
            </a:pPr>
            <a:r>
              <a:rPr lang="en-US" sz="1050" b="1" i="1" u="sng" dirty="0">
                <a:solidFill>
                  <a:srgbClr val="1E3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SkillBridge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43600" y="1508760"/>
            <a:ext cx="2743200" cy="3108960"/>
          </a:xfrm>
          <a:prstGeom prst="hexagon">
            <a:avLst/>
          </a:prstGeom>
          <a:solidFill>
            <a:srgbClr val="E0F2FE"/>
          </a:solidFill>
          <a:ln w="19050">
            <a:solidFill>
              <a:srgbClr val="BAE6FD"/>
            </a:solidFill>
            <a:prstDash val="solid"/>
          </a:ln>
        </p:spPr>
      </p:sp>
      <p:pic>
        <p:nvPicPr>
          <p:cNvPr id="14" name="Image 2" descr="C:\Users\vj789\.gemini\antigravity\scratch\skillbridge-ayush\assets\sih\sih_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21945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j789\.gemini\antigravity\scratch\skillbridge-ayush\assets\sih\tea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pic>
        <p:nvPicPr>
          <p:cNvPr id="3" name="Image 1" descr="C:\Users\vj789\.gemini\antigravity\scratch\skillbridge-ayush\assets\sih\sih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91440"/>
            <a:ext cx="777240" cy="777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109728"/>
            <a:ext cx="6766560" cy="5943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234440" y="146304"/>
            <a:ext cx="6583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Objective: 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Ayush Curricula &amp; Industry Demands via Closed-Loop Skill Mapping
</a:t>
            </a:r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Goal: 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diagnostic competency assessment, deficit remediation &amp; cryptographic internship matching</a:t>
            </a:r>
            <a:endParaRPr lang="en-US" sz="850" dirty="0"/>
          </a:p>
        </p:txBody>
      </p:sp>
      <p:sp>
        <p:nvSpPr>
          <p:cNvPr id="6" name="Shape 2"/>
          <p:cNvSpPr/>
          <p:nvPr/>
        </p:nvSpPr>
        <p:spPr>
          <a:xfrm>
            <a:off x="457200" y="822960"/>
            <a:ext cx="2377440" cy="292608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8503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 :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7200" y="11887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Phase-I: Diagnostic Assessment &amp; Ingestion: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Standardized testing across 10 Ayush competencies (Schedule T, Pharmacovigilance, Nadi Pariksha).</a:t>
            </a:r>
            <a:endParaRPr lang="en-US" sz="720" dirty="0"/>
          </a:p>
        </p:txBody>
      </p:sp>
      <p:sp>
        <p:nvSpPr>
          <p:cNvPr id="10" name="Text 6"/>
          <p:cNvSpPr/>
          <p:nvPr/>
        </p:nvSpPr>
        <p:spPr>
          <a:xfrm>
            <a:off x="457200" y="1627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Timed auto-grading engine converting student responses to empirical JSON skill profiles.</a:t>
            </a:r>
            <a:endParaRPr lang="en-US" sz="720" dirty="0"/>
          </a:p>
        </p:txBody>
      </p:sp>
      <p:sp>
        <p:nvSpPr>
          <p:cNvPr id="11" name="Text 7"/>
          <p:cNvSpPr/>
          <p:nvPr/>
        </p:nvSpPr>
        <p:spPr>
          <a:xfrm>
            <a:off x="457200" y="1938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Mathematical Gap Mapping: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57200" y="21214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5-Tier Deficit Vector formula computes exact skill shortfall against target industry roles.</a:t>
            </a:r>
            <a:endParaRPr lang="en-US" sz="720" dirty="0"/>
          </a:p>
        </p:txBody>
      </p:sp>
      <p:sp>
        <p:nvSpPr>
          <p:cNvPr id="13" name="Text 9"/>
          <p:cNvSpPr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Auto-remediation pipeline assigns tailored micro-courses for Critical (≥30%) and High deficits.</a:t>
            </a:r>
            <a:endParaRPr lang="en-US" sz="720" dirty="0"/>
          </a:p>
        </p:txBody>
      </p:sp>
      <p:sp>
        <p:nvSpPr>
          <p:cNvPr id="14" name="Text 10"/>
          <p:cNvSpPr/>
          <p:nvPr/>
        </p:nvSpPr>
        <p:spPr>
          <a:xfrm>
            <a:off x="457200" y="26883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Matching &amp; Cryptographic Portfolio: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57200" y="28712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5-Factor weighted recommendation engine computes verified role-compatibility scores (0-100%).</a:t>
            </a:r>
            <a:endParaRPr lang="en-US" sz="720" dirty="0"/>
          </a:p>
        </p:txBody>
      </p:sp>
      <p:sp>
        <p:nvSpPr>
          <p:cNvPr id="16" name="Text 12"/>
          <p:cNvSpPr/>
          <p:nvPr/>
        </p:nvSpPr>
        <p:spPr>
          <a:xfrm>
            <a:off x="457200" y="3127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Deterministic SHA-256 micro-credentials provide instant, tamper-proof W3C verification.</a:t>
            </a:r>
            <a:endParaRPr lang="en-US" sz="720" dirty="0"/>
          </a:p>
        </p:txBody>
      </p:sp>
      <p:sp>
        <p:nvSpPr>
          <p:cNvPr id="17" name="Shape 13"/>
          <p:cNvSpPr/>
          <p:nvPr/>
        </p:nvSpPr>
        <p:spPr>
          <a:xfrm>
            <a:off x="457200" y="3429000"/>
            <a:ext cx="39319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3520440"/>
            <a:ext cx="1645920" cy="237744"/>
          </a:xfrm>
          <a:prstGeom prst="roundRect">
            <a:avLst/>
          </a:prstGeom>
          <a:solidFill>
            <a:srgbClr val="FED7AA"/>
          </a:solidFill>
          <a:ln/>
        </p:spPr>
      </p:sp>
      <p:sp>
        <p:nvSpPr>
          <p:cNvPr id="19" name="Text 15"/>
          <p:cNvSpPr/>
          <p:nvPr/>
        </p:nvSpPr>
        <p:spPr>
          <a:xfrm>
            <a:off x="548640" y="35478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INNOVATION: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60320" y="3520440"/>
            <a:ext cx="1645920" cy="237744"/>
          </a:xfrm>
          <a:prstGeom prst="roundRect">
            <a:avLst/>
          </a:prstGeom>
          <a:solidFill>
            <a:srgbClr val="FED7AA"/>
          </a:solidFill>
          <a:ln/>
        </p:spPr>
      </p:sp>
      <p:sp>
        <p:nvSpPr>
          <p:cNvPr id="21" name="Text 17"/>
          <p:cNvSpPr/>
          <p:nvPr/>
        </p:nvSpPr>
        <p:spPr>
          <a:xfrm>
            <a:off x="2560320" y="35478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UNIQUENESS: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57200" y="3822192"/>
            <a:ext cx="868680" cy="502920"/>
          </a:xfrm>
          <a:prstGeom prst="roundRect">
            <a:avLst/>
          </a:prstGeom>
          <a:solidFill>
            <a:srgbClr val="CCFBF1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386791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Empirical Skill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</a:t>
            </a:r>
            <a:endParaRPr lang="en-US" sz="650" dirty="0"/>
          </a:p>
        </p:txBody>
      </p:sp>
      <p:sp>
        <p:nvSpPr>
          <p:cNvPr id="24" name="Shape 20"/>
          <p:cNvSpPr/>
          <p:nvPr/>
        </p:nvSpPr>
        <p:spPr>
          <a:xfrm>
            <a:off x="1417320" y="3822192"/>
            <a:ext cx="868680" cy="50292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417320" y="3867912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5-Factor Weighted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Engine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457200" y="4389120"/>
            <a:ext cx="868680" cy="50292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" y="44348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Digest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1417320" y="4389120"/>
            <a:ext cx="868680" cy="502920"/>
          </a:xfrm>
          <a:prstGeom prst="roundRect">
            <a:avLst/>
          </a:prstGeom>
          <a:solidFill>
            <a:srgbClr val="F3E8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417320" y="44348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R&amp;D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 Hub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2468880" y="3822192"/>
            <a:ext cx="1874520" cy="320040"/>
          </a:xfrm>
          <a:prstGeom prst="roundRect">
            <a:avLst/>
          </a:prstGeom>
          <a:solidFill>
            <a:srgbClr val="D1FAE5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514600" y="386791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Ayush Specialized - Industry Mapping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2468880" y="4206240"/>
            <a:ext cx="1874520" cy="320040"/>
          </a:xfrm>
          <a:prstGeom prst="roundRect">
            <a:avLst/>
          </a:prstGeom>
          <a:solidFill>
            <a:srgbClr val="CFFAFE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514600" y="4251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Closed-Loop Skill - Remediation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2468880" y="4590288"/>
            <a:ext cx="1874520" cy="320040"/>
          </a:xfrm>
          <a:prstGeom prst="roundRect">
            <a:avLst/>
          </a:prstGeom>
          <a:solidFill>
            <a:srgbClr val="FFE4E6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514600" y="463600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Verifiable - Credential Model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4526280" y="868680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303520" y="822960"/>
            <a:ext cx="2926080" cy="292608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303520" y="850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 OF APPROACH :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754880" y="1188720"/>
            <a:ext cx="3931920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846320" y="12252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Diagnostic Assessment &amp; Ingestion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4846320" y="1444752"/>
            <a:ext cx="1143000" cy="411480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46320" y="14813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Ayush MCQs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Auto-Graded</a:t>
            </a:r>
            <a:endParaRPr lang="en-US" sz="620" dirty="0"/>
          </a:p>
        </p:txBody>
      </p:sp>
      <p:sp>
        <p:nvSpPr>
          <p:cNvPr id="43" name="Shape 39"/>
          <p:cNvSpPr/>
          <p:nvPr/>
        </p:nvSpPr>
        <p:spPr>
          <a:xfrm>
            <a:off x="6126480" y="1444752"/>
            <a:ext cx="1188720" cy="411480"/>
          </a:xfrm>
          <a:prstGeom prst="roundRect">
            <a:avLst/>
          </a:prstGeom>
          <a:solidFill>
            <a:srgbClr val="E0E7FF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126480" y="1481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T &amp; GCP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Competencies</a:t>
            </a:r>
            <a:endParaRPr lang="en-US" sz="620" dirty="0"/>
          </a:p>
        </p:txBody>
      </p:sp>
      <p:sp>
        <p:nvSpPr>
          <p:cNvPr id="45" name="Shape 41"/>
          <p:cNvSpPr/>
          <p:nvPr/>
        </p:nvSpPr>
        <p:spPr>
          <a:xfrm>
            <a:off x="7452360" y="1444752"/>
            <a:ext cx="1143000" cy="411480"/>
          </a:xfrm>
          <a:prstGeom prst="roundRect">
            <a:avLst/>
          </a:prstGeom>
          <a:solidFill>
            <a:srgbClr val="FCE7F3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52360" y="148132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831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JSON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8318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Schema</a:t>
            </a:r>
            <a:endParaRPr lang="en-US" sz="620" dirty="0"/>
          </a:p>
        </p:txBody>
      </p:sp>
      <p:sp>
        <p:nvSpPr>
          <p:cNvPr id="47" name="Shape 43"/>
          <p:cNvSpPr/>
          <p:nvPr/>
        </p:nvSpPr>
        <p:spPr>
          <a:xfrm>
            <a:off x="6629400" y="2011680"/>
            <a:ext cx="182880" cy="182880"/>
          </a:xfrm>
          <a:prstGeom prst="downArrow">
            <a:avLst/>
          </a:prstGeom>
          <a:solidFill>
            <a:srgbClr val="0284C7"/>
          </a:solidFill>
          <a:ln/>
        </p:spPr>
      </p:sp>
      <p:sp>
        <p:nvSpPr>
          <p:cNvPr id="48" name="Shape 44"/>
          <p:cNvSpPr/>
          <p:nvPr/>
        </p:nvSpPr>
        <p:spPr>
          <a:xfrm>
            <a:off x="4754880" y="2240280"/>
            <a:ext cx="3931920" cy="1325880"/>
          </a:xfrm>
          <a:prstGeom prst="roundRect">
            <a:avLst/>
          </a:prstGeom>
          <a:solidFill>
            <a:srgbClr val="FDF4FF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46320" y="226771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61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5-Tier Deficit Vector &amp; Gap Remediator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5669280" y="2468880"/>
            <a:ext cx="2103120" cy="274320"/>
          </a:xfrm>
          <a:prstGeom prst="roundRect">
            <a:avLst/>
          </a:prstGeom>
          <a:solidFill>
            <a:srgbClr val="FAE8FF"/>
          </a:solidFill>
          <a:ln w="10160">
            <a:solidFill>
              <a:srgbClr val="C026D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669280" y="25054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01A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Deficit(k) = Target(k) - Score(k)</a:t>
            </a:r>
            <a:endParaRPr lang="en-US" sz="680" dirty="0"/>
          </a:p>
        </p:txBody>
      </p:sp>
      <p:sp>
        <p:nvSpPr>
          <p:cNvPr id="52" name="Shape 48"/>
          <p:cNvSpPr/>
          <p:nvPr/>
        </p:nvSpPr>
        <p:spPr>
          <a:xfrm>
            <a:off x="6217920" y="2788920"/>
            <a:ext cx="1005840" cy="411480"/>
          </a:xfrm>
          <a:prstGeom prst="diamond">
            <a:avLst/>
          </a:prstGeom>
          <a:solidFill>
            <a:srgbClr val="FEF08A"/>
          </a:solidFill>
          <a:ln w="10160">
            <a:solidFill>
              <a:srgbClr val="CA8A04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217920" y="287121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≥ 20%?</a:t>
            </a:r>
            <a:endParaRPr lang="en-US" sz="620" dirty="0"/>
          </a:p>
        </p:txBody>
      </p:sp>
      <p:sp>
        <p:nvSpPr>
          <p:cNvPr id="54" name="Shape 50"/>
          <p:cNvSpPr/>
          <p:nvPr/>
        </p:nvSpPr>
        <p:spPr>
          <a:xfrm>
            <a:off x="4892040" y="3218688"/>
            <a:ext cx="1645920" cy="274320"/>
          </a:xfrm>
          <a:prstGeom prst="roundRect">
            <a:avLst/>
          </a:prstGeom>
          <a:solidFill>
            <a:srgbClr val="FEE2E2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892040" y="325526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 → Auto-Remedial Course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6903720" y="3218688"/>
            <a:ext cx="1645920" cy="274320"/>
          </a:xfrm>
          <a:prstGeom prst="roundRect">
            <a:avLst/>
          </a:prstGeom>
          <a:solidFill>
            <a:srgbClr val="DCFCE7"/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903720" y="325526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→ Matchmaking Ready</a:t>
            </a:r>
            <a:endParaRPr lang="en-US" sz="620" dirty="0"/>
          </a:p>
        </p:txBody>
      </p:sp>
      <p:sp>
        <p:nvSpPr>
          <p:cNvPr id="58" name="Shape 54"/>
          <p:cNvSpPr/>
          <p:nvPr/>
        </p:nvSpPr>
        <p:spPr>
          <a:xfrm>
            <a:off x="6629400" y="3611880"/>
            <a:ext cx="182880" cy="182880"/>
          </a:xfrm>
          <a:prstGeom prst="downArrow">
            <a:avLst/>
          </a:prstGeom>
          <a:solidFill>
            <a:srgbClr val="0284C7"/>
          </a:solidFill>
          <a:ln/>
        </p:spPr>
      </p:sp>
      <p:sp>
        <p:nvSpPr>
          <p:cNvPr id="59" name="Shape 55"/>
          <p:cNvSpPr/>
          <p:nvPr/>
        </p:nvSpPr>
        <p:spPr>
          <a:xfrm>
            <a:off x="4754880" y="3840480"/>
            <a:ext cx="3931920" cy="1051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846320" y="38770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5-Factor Matching &amp; Cryptographic Credentialing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892040" y="4096512"/>
            <a:ext cx="1783080" cy="320040"/>
          </a:xfrm>
          <a:prstGeom prst="roundRect">
            <a:avLst/>
          </a:prstGeom>
          <a:solidFill>
            <a:srgbClr val="E0F2FE"/>
          </a:solidFill>
          <a:ln w="7620">
            <a:solidFill>
              <a:srgbClr val="0284C7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89204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759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5-Factor Match Engine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0759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(Score: 0-100%)</a:t>
            </a:r>
            <a:endParaRPr lang="en-US" sz="620" dirty="0"/>
          </a:p>
        </p:txBody>
      </p:sp>
      <p:sp>
        <p:nvSpPr>
          <p:cNvPr id="63" name="Shape 59"/>
          <p:cNvSpPr/>
          <p:nvPr/>
        </p:nvSpPr>
        <p:spPr>
          <a:xfrm>
            <a:off x="6812280" y="4096512"/>
            <a:ext cx="1783080" cy="320040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81228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Micro-Credential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(W3C Verifiable Ledger)</a:t>
            </a:r>
            <a:endParaRPr lang="en-US" sz="620" dirty="0"/>
          </a:p>
        </p:txBody>
      </p:sp>
      <p:sp>
        <p:nvSpPr>
          <p:cNvPr id="65" name="Shape 61"/>
          <p:cNvSpPr/>
          <p:nvPr/>
        </p:nvSpPr>
        <p:spPr>
          <a:xfrm>
            <a:off x="5303520" y="4480560"/>
            <a:ext cx="2834640" cy="320040"/>
          </a:xfrm>
          <a:prstGeom prst="roundRect">
            <a:avLst/>
          </a:prstGeom>
          <a:solidFill>
            <a:srgbClr val="F1F5F9"/>
          </a:solidFill>
          <a:ln w="7620">
            <a:solidFill>
              <a:srgbClr val="64748B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5303520" y="4526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Internship / Job Offer Issued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j789\.gemini\antigravity\scratch\skillbridge-ayush\assets\sih\tea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pic>
        <p:nvPicPr>
          <p:cNvPr id="3" name="Image 1" descr="C:\Users\vj789\.gemini\antigravity\scratch\skillbridge-ayush\assets\sih\sih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777240" cy="777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651760" y="137160"/>
            <a:ext cx="3840480" cy="347472"/>
          </a:xfrm>
          <a:prstGeom prst="roundRect">
            <a:avLst/>
          </a:prstGeom>
          <a:solidFill>
            <a:srgbClr val="FED7AA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651760" y="1645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2926080" y="530352"/>
            <a:ext cx="3291840" cy="256032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926080" y="5577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 AND PROCESSING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365760" y="868680"/>
            <a:ext cx="84124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9" name="Shape 5"/>
          <p:cNvSpPr/>
          <p:nvPr/>
        </p:nvSpPr>
        <p:spPr>
          <a:xfrm>
            <a:off x="548640" y="1005840"/>
            <a:ext cx="9144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051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👨‍🎓 🏭 🔬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/ Recruiter /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App</a:t>
            </a:r>
            <a:endParaRPr lang="en-US" sz="680" dirty="0"/>
          </a:p>
        </p:txBody>
      </p:sp>
      <p:sp>
        <p:nvSpPr>
          <p:cNvPr id="11" name="Shape 7"/>
          <p:cNvSpPr/>
          <p:nvPr/>
        </p:nvSpPr>
        <p:spPr>
          <a:xfrm>
            <a:off x="1508760" y="1325880"/>
            <a:ext cx="320040" cy="182880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2" name="Shape 8"/>
          <p:cNvSpPr/>
          <p:nvPr/>
        </p:nvSpPr>
        <p:spPr>
          <a:xfrm>
            <a:off x="1874520" y="1005840"/>
            <a:ext cx="1325880" cy="82296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901952" y="1051560"/>
            <a:ext cx="1271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SECURITY LAYER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Helmet.js • HSTS • CSP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X-Request-ID Tracing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Rate Limiting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2468880" y="1874520"/>
            <a:ext cx="182880" cy="228600"/>
          </a:xfrm>
          <a:prstGeom prst="downArrow">
            <a:avLst/>
          </a:prstGeom>
          <a:solidFill>
            <a:srgbClr val="64748B"/>
          </a:solidFill>
          <a:ln/>
        </p:spPr>
      </p:sp>
      <p:sp>
        <p:nvSpPr>
          <p:cNvPr id="15" name="Shape 11"/>
          <p:cNvSpPr/>
          <p:nvPr/>
        </p:nvSpPr>
        <p:spPr>
          <a:xfrm>
            <a:off x="1188720" y="2148840"/>
            <a:ext cx="2651760" cy="21031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D8B4F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34440" y="2194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21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Processing Layer (REST Microservices)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1325880" y="2450592"/>
            <a:ext cx="23774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325880" y="2487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B07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10 Ayush Competency Diagnostic Engine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3B07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Timed MCQs • Auto-Grading Scoring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2423160" y="2889504"/>
            <a:ext cx="164592" cy="137160"/>
          </a:xfrm>
          <a:prstGeom prst="downArrow">
            <a:avLst/>
          </a:prstGeom>
          <a:solidFill>
            <a:srgbClr val="9333EA"/>
          </a:solidFill>
          <a:ln/>
        </p:spPr>
      </p:sp>
      <p:sp>
        <p:nvSpPr>
          <p:cNvPr id="20" name="Shape 16"/>
          <p:cNvSpPr/>
          <p:nvPr/>
        </p:nvSpPr>
        <p:spPr>
          <a:xfrm>
            <a:off x="1325880" y="3063240"/>
            <a:ext cx="237744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325880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B07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5-Tier Deficit Vector &amp; Gap Remediation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3B07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Deficit(k) = Target(k) - Score(k)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3B07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Remedial Micro-Course Assignment</a:t>
            </a:r>
            <a:endParaRPr lang="en-US" sz="620" dirty="0"/>
          </a:p>
        </p:txBody>
      </p:sp>
      <p:sp>
        <p:nvSpPr>
          <p:cNvPr id="22" name="Shape 18"/>
          <p:cNvSpPr/>
          <p:nvPr/>
        </p:nvSpPr>
        <p:spPr>
          <a:xfrm>
            <a:off x="2423160" y="3593592"/>
            <a:ext cx="164592" cy="137160"/>
          </a:xfrm>
          <a:prstGeom prst="downArrow">
            <a:avLst/>
          </a:prstGeom>
          <a:solidFill>
            <a:srgbClr val="9333EA"/>
          </a:solidFill>
          <a:ln/>
        </p:spPr>
      </p:sp>
      <p:sp>
        <p:nvSpPr>
          <p:cNvPr id="23" name="Shape 19"/>
          <p:cNvSpPr/>
          <p:nvPr/>
        </p:nvSpPr>
        <p:spPr>
          <a:xfrm>
            <a:off x="1325880" y="3767328"/>
            <a:ext cx="237744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325880" y="38039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Validate SHA-256 Micro-Credentials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Verifiable Credentials Ledger</a:t>
            </a:r>
            <a:endParaRPr lang="en-US" sz="620" dirty="0"/>
          </a:p>
        </p:txBody>
      </p:sp>
      <p:sp>
        <p:nvSpPr>
          <p:cNvPr id="25" name="Shape 21"/>
          <p:cNvSpPr/>
          <p:nvPr/>
        </p:nvSpPr>
        <p:spPr>
          <a:xfrm>
            <a:off x="3931920" y="1005840"/>
            <a:ext cx="2468880" cy="1143000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977640" y="1051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Unified Data Store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069080" y="1298448"/>
            <a:ext cx="1051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69080" y="1335024"/>
            <a:ext cx="1051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🍃 MongoDB 7.0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Collections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Compound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Indices (&lt;50ms)</a:t>
            </a:r>
            <a:endParaRPr lang="en-US" sz="620" dirty="0"/>
          </a:p>
        </p:txBody>
      </p:sp>
      <p:sp>
        <p:nvSpPr>
          <p:cNvPr id="29" name="Shape 25"/>
          <p:cNvSpPr/>
          <p:nvPr/>
        </p:nvSpPr>
        <p:spPr>
          <a:xfrm>
            <a:off x="5257800" y="1298448"/>
            <a:ext cx="1051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257800" y="1335024"/>
            <a:ext cx="1051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Audit Ledger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Hashes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Records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Proofs</a:t>
            </a:r>
            <a:endParaRPr lang="en-US" sz="620" dirty="0"/>
          </a:p>
        </p:txBody>
      </p:sp>
      <p:sp>
        <p:nvSpPr>
          <p:cNvPr id="31" name="Shape 27"/>
          <p:cNvSpPr/>
          <p:nvPr/>
        </p:nvSpPr>
        <p:spPr>
          <a:xfrm>
            <a:off x="4023360" y="2286000"/>
            <a:ext cx="2286000" cy="1965960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06908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241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Monitoring &amp; Telemetry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4160520" y="2560320"/>
            <a:ext cx="2011680" cy="411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60520" y="25968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314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Append-Only Audit Logs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4314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(W3C Compliant Event Trail)</a:t>
            </a:r>
            <a:endParaRPr lang="en-US" sz="620" dirty="0"/>
          </a:p>
        </p:txBody>
      </p:sp>
      <p:sp>
        <p:nvSpPr>
          <p:cNvPr id="35" name="Shape 31"/>
          <p:cNvSpPr/>
          <p:nvPr/>
        </p:nvSpPr>
        <p:spPr>
          <a:xfrm>
            <a:off x="4160520" y="3035808"/>
            <a:ext cx="20116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160520" y="30723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314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Placement Absorption Funnel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43140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Regional Skill Demand Heatmaps</a:t>
            </a:r>
            <a:endParaRPr lang="en-US" sz="620" dirty="0"/>
          </a:p>
        </p:txBody>
      </p:sp>
      <p:sp>
        <p:nvSpPr>
          <p:cNvPr id="37" name="Shape 33"/>
          <p:cNvSpPr/>
          <p:nvPr/>
        </p:nvSpPr>
        <p:spPr>
          <a:xfrm>
            <a:off x="4160520" y="3584448"/>
            <a:ext cx="201168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160520" y="3621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5-Factor Weighted Engine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(Score = 0.50S + 0.20E +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0.15C + 0.10P + 0.05L)</a:t>
            </a:r>
            <a:endParaRPr lang="en-US" sz="620" dirty="0"/>
          </a:p>
        </p:txBody>
      </p:sp>
      <p:sp>
        <p:nvSpPr>
          <p:cNvPr id="39" name="Shape 35"/>
          <p:cNvSpPr/>
          <p:nvPr/>
        </p:nvSpPr>
        <p:spPr>
          <a:xfrm>
            <a:off x="6492240" y="1325880"/>
            <a:ext cx="2103120" cy="2926080"/>
          </a:xfrm>
          <a:prstGeom prst="roundRect">
            <a:avLst/>
          </a:prstGeom>
          <a:solidFill>
            <a:srgbClr val="FEF08A"/>
          </a:solidFill>
          <a:ln w="15240">
            <a:solidFill>
              <a:srgbClr val="FDE04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53796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162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Outputs &amp; Stakeholder Action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6629400" y="1627632"/>
            <a:ext cx="182880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E04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629400" y="166420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👨‍🎓 Candidate Portfolio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Radar Skill Breakdown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Remedial Study Path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Verified 1-Click Apply</a:t>
            </a:r>
            <a:endParaRPr lang="en-US" sz="620" dirty="0"/>
          </a:p>
        </p:txBody>
      </p:sp>
      <p:sp>
        <p:nvSpPr>
          <p:cNvPr id="43" name="Shape 39"/>
          <p:cNvSpPr/>
          <p:nvPr/>
        </p:nvSpPr>
        <p:spPr>
          <a:xfrm>
            <a:off x="6629400" y="2423160"/>
            <a:ext cx="182880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E04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629400" y="2459736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🏭 Ayush Industry HR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Pre-Screened Pipeline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Compatibility Breakdown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Weekly Milestone Tracker</a:t>
            </a:r>
            <a:endParaRPr lang="en-US" sz="620" dirty="0"/>
          </a:p>
        </p:txBody>
      </p:sp>
      <p:sp>
        <p:nvSpPr>
          <p:cNvPr id="45" name="Shape 41"/>
          <p:cNvSpPr/>
          <p:nvPr/>
        </p:nvSpPr>
        <p:spPr>
          <a:xfrm>
            <a:off x="6629400" y="3291840"/>
            <a:ext cx="18288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DE047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629400" y="3328416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 Ministry &amp; Institutes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Regional Skill Heatmap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Curriculum Gap Analysis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713F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NAAC/NIRF Audit Exports</a:t>
            </a:r>
            <a:endParaRPr lang="en-US" sz="620" dirty="0"/>
          </a:p>
        </p:txBody>
      </p:sp>
      <p:sp>
        <p:nvSpPr>
          <p:cNvPr id="47" name="Shape 43"/>
          <p:cNvSpPr/>
          <p:nvPr/>
        </p:nvSpPr>
        <p:spPr>
          <a:xfrm>
            <a:off x="0" y="4526280"/>
            <a:ext cx="2011680" cy="6172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8" name="Text 44"/>
          <p:cNvSpPr/>
          <p:nvPr/>
        </p:nvSpPr>
        <p:spPr>
          <a:xfrm>
            <a:off x="0" y="4681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2011680" y="4526280"/>
            <a:ext cx="7132320" cy="61722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148840" y="4599432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148840" y="462686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680" dirty="0"/>
          </a:p>
        </p:txBody>
      </p:sp>
      <p:sp>
        <p:nvSpPr>
          <p:cNvPr id="52" name="Shape 48"/>
          <p:cNvSpPr/>
          <p:nvPr/>
        </p:nvSpPr>
        <p:spPr>
          <a:xfrm>
            <a:off x="3291840" y="4599432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291840" y="462686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5</a:t>
            </a:r>
            <a:endParaRPr lang="en-US" sz="680" dirty="0"/>
          </a:p>
        </p:txBody>
      </p:sp>
      <p:sp>
        <p:nvSpPr>
          <p:cNvPr id="54" name="Shape 50"/>
          <p:cNvSpPr/>
          <p:nvPr/>
        </p:nvSpPr>
        <p:spPr>
          <a:xfrm>
            <a:off x="4434840" y="4599432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434840" y="462686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680" dirty="0"/>
          </a:p>
        </p:txBody>
      </p:sp>
      <p:sp>
        <p:nvSpPr>
          <p:cNvPr id="56" name="Shape 52"/>
          <p:cNvSpPr/>
          <p:nvPr/>
        </p:nvSpPr>
        <p:spPr>
          <a:xfrm>
            <a:off x="5577840" y="4599432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5577840" y="462686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</a:t>
            </a:r>
            <a:endParaRPr lang="en-US" sz="680" dirty="0"/>
          </a:p>
        </p:txBody>
      </p:sp>
      <p:sp>
        <p:nvSpPr>
          <p:cNvPr id="58" name="Shape 54"/>
          <p:cNvSpPr/>
          <p:nvPr/>
        </p:nvSpPr>
        <p:spPr>
          <a:xfrm>
            <a:off x="6720840" y="4599432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720840" y="462686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</a:t>
            </a:r>
            <a:endParaRPr lang="en-US" sz="680" dirty="0"/>
          </a:p>
        </p:txBody>
      </p:sp>
      <p:sp>
        <p:nvSpPr>
          <p:cNvPr id="60" name="Shape 56"/>
          <p:cNvSpPr/>
          <p:nvPr/>
        </p:nvSpPr>
        <p:spPr>
          <a:xfrm>
            <a:off x="7863840" y="4599432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863840" y="4626864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7</a:t>
            </a:r>
            <a:endParaRPr lang="en-US" sz="680" dirty="0"/>
          </a:p>
        </p:txBody>
      </p:sp>
      <p:sp>
        <p:nvSpPr>
          <p:cNvPr id="62" name="Shape 58"/>
          <p:cNvSpPr/>
          <p:nvPr/>
        </p:nvSpPr>
        <p:spPr>
          <a:xfrm>
            <a:off x="2148840" y="4855464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2148840" y="48828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</a:t>
            </a:r>
            <a:endParaRPr lang="en-US" sz="680" dirty="0"/>
          </a:p>
        </p:txBody>
      </p:sp>
      <p:sp>
        <p:nvSpPr>
          <p:cNvPr id="64" name="Shape 60"/>
          <p:cNvSpPr/>
          <p:nvPr/>
        </p:nvSpPr>
        <p:spPr>
          <a:xfrm>
            <a:off x="3291840" y="4855464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3291840" y="48828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680" dirty="0"/>
          </a:p>
        </p:txBody>
      </p:sp>
      <p:sp>
        <p:nvSpPr>
          <p:cNvPr id="66" name="Shape 62"/>
          <p:cNvSpPr/>
          <p:nvPr/>
        </p:nvSpPr>
        <p:spPr>
          <a:xfrm>
            <a:off x="4434840" y="4855464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434840" y="48828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</a:t>
            </a:r>
            <a:endParaRPr lang="en-US" sz="680" dirty="0"/>
          </a:p>
        </p:txBody>
      </p:sp>
      <p:sp>
        <p:nvSpPr>
          <p:cNvPr id="68" name="Shape 64"/>
          <p:cNvSpPr/>
          <p:nvPr/>
        </p:nvSpPr>
        <p:spPr>
          <a:xfrm>
            <a:off x="5577840" y="4855464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5577840" y="48828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Helmet.js</a:t>
            </a:r>
            <a:endParaRPr lang="en-US" sz="680" dirty="0"/>
          </a:p>
        </p:txBody>
      </p:sp>
      <p:sp>
        <p:nvSpPr>
          <p:cNvPr id="70" name="Shape 66"/>
          <p:cNvSpPr/>
          <p:nvPr/>
        </p:nvSpPr>
        <p:spPr>
          <a:xfrm>
            <a:off x="6720840" y="4855464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720840" y="48828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/ ML</a:t>
            </a:r>
            <a:endParaRPr lang="en-US" sz="680" dirty="0"/>
          </a:p>
        </p:txBody>
      </p:sp>
      <p:sp>
        <p:nvSpPr>
          <p:cNvPr id="72" name="Shape 68"/>
          <p:cNvSpPr/>
          <p:nvPr/>
        </p:nvSpPr>
        <p:spPr>
          <a:xfrm>
            <a:off x="7863840" y="4855464"/>
            <a:ext cx="1051560" cy="2194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7863840" y="4882896"/>
            <a:ext cx="1051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SVG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j789\.gemini\antigravity\scratch\skillbridge-ayush\assets\sih\tea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pic>
        <p:nvPicPr>
          <p:cNvPr id="3" name="Image 1" descr="C:\Users\vj789\.gemini\antigravity\scratch\skillbridge-ayush\assets\sih\sih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91440"/>
            <a:ext cx="777240" cy="777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017520" y="182880"/>
            <a:ext cx="0" cy="4754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126480" y="182880"/>
            <a:ext cx="0" cy="4754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57200" y="137160"/>
            <a:ext cx="2103120" cy="32004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645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512064"/>
            <a:ext cx="2286000" cy="256032"/>
          </a:xfrm>
          <a:prstGeom prst="roundRect">
            <a:avLst/>
          </a:prstGeom>
          <a:solidFill>
            <a:srgbClr val="FEF08A"/>
          </a:solidFill>
          <a:ln/>
        </p:spPr>
      </p:sp>
      <p:sp>
        <p:nvSpPr>
          <p:cNvPr id="9" name="Text 5"/>
          <p:cNvSpPr/>
          <p:nvPr/>
        </p:nvSpPr>
        <p:spPr>
          <a:xfrm>
            <a:off x="365760" y="548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13F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LIFECYCLE PLATFORM</a:t>
            </a:r>
            <a:endParaRPr lang="en-US" sz="680" dirty="0"/>
          </a:p>
        </p:txBody>
      </p:sp>
      <p:sp>
        <p:nvSpPr>
          <p:cNvPr id="10" name="Shape 6"/>
          <p:cNvSpPr/>
          <p:nvPr/>
        </p:nvSpPr>
        <p:spPr>
          <a:xfrm>
            <a:off x="457200" y="86868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9052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RBAC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02920" y="10881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• Bcrypt • Helmet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457200" y="141732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14538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 Engine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02920" y="16367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Ayush Competencies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457200" y="196596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20025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Deficit Vector Formula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02920" y="21854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5-Tier Gap Analyzer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457200" y="251460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25511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 Credentials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02920" y="27340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Verifiable Ledger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457200" y="306324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02920" y="30998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6-Stage Internship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502920" y="3282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Milestone Logs</a:t>
            </a:r>
            <a:endParaRPr lang="en-US" sz="650" dirty="0"/>
          </a:p>
        </p:txBody>
      </p:sp>
      <p:sp>
        <p:nvSpPr>
          <p:cNvPr id="25" name="Shape 21"/>
          <p:cNvSpPr/>
          <p:nvPr/>
        </p:nvSpPr>
        <p:spPr>
          <a:xfrm>
            <a:off x="457200" y="361188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36484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Faculty R&amp;D Hub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02920" y="38313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Joint Grants &amp; Sabbaticals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457200" y="4160520"/>
            <a:ext cx="21031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41970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Telemetry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502920" y="43799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 Workforce Heatmap</a:t>
            </a:r>
            <a:endParaRPr lang="en-US" sz="650" dirty="0"/>
          </a:p>
        </p:txBody>
      </p:sp>
      <p:sp>
        <p:nvSpPr>
          <p:cNvPr id="31" name="Shape 27"/>
          <p:cNvSpPr/>
          <p:nvPr/>
        </p:nvSpPr>
        <p:spPr>
          <a:xfrm>
            <a:off x="3657600" y="137160"/>
            <a:ext cx="1828800" cy="32004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57600" y="164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200400" y="530352"/>
            <a:ext cx="2743200" cy="43434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46120" y="59436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SkillBridge Unified Ecosystem</a:t>
            </a:r>
            <a:endParaRPr lang="en-US" sz="780" dirty="0"/>
          </a:p>
        </p:txBody>
      </p:sp>
      <p:sp>
        <p:nvSpPr>
          <p:cNvPr id="35" name="Shape 31"/>
          <p:cNvSpPr/>
          <p:nvPr/>
        </p:nvSpPr>
        <p:spPr>
          <a:xfrm>
            <a:off x="3337560" y="86868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337560" y="9144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10 Ayush Diagnostic Tests</a:t>
            </a:r>
            <a:endParaRPr lang="en-US" sz="620" dirty="0"/>
          </a:p>
        </p:txBody>
      </p:sp>
      <p:sp>
        <p:nvSpPr>
          <p:cNvPr id="37" name="Shape 33"/>
          <p:cNvSpPr/>
          <p:nvPr/>
        </p:nvSpPr>
        <p:spPr>
          <a:xfrm>
            <a:off x="3337560" y="128016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337560" y="1325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Skill Deficit Vector vs Role</a:t>
            </a:r>
            <a:endParaRPr lang="en-US" sz="620" dirty="0"/>
          </a:p>
        </p:txBody>
      </p:sp>
      <p:sp>
        <p:nvSpPr>
          <p:cNvPr id="39" name="Shape 35"/>
          <p:cNvSpPr/>
          <p:nvPr/>
        </p:nvSpPr>
        <p:spPr>
          <a:xfrm>
            <a:off x="3337560" y="169164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337560" y="1737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 in Auto-Remedial Course</a:t>
            </a:r>
            <a:endParaRPr lang="en-US" sz="620" dirty="0"/>
          </a:p>
        </p:txBody>
      </p:sp>
      <p:sp>
        <p:nvSpPr>
          <p:cNvPr id="41" name="Shape 37"/>
          <p:cNvSpPr/>
          <p:nvPr/>
        </p:nvSpPr>
        <p:spPr>
          <a:xfrm>
            <a:off x="3337560" y="210312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337560" y="2148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Matched Jobs (5-Factor Fit)</a:t>
            </a:r>
            <a:endParaRPr lang="en-US" sz="620" dirty="0"/>
          </a:p>
        </p:txBody>
      </p:sp>
      <p:sp>
        <p:nvSpPr>
          <p:cNvPr id="43" name="Shape 39"/>
          <p:cNvSpPr/>
          <p:nvPr/>
        </p:nvSpPr>
        <p:spPr>
          <a:xfrm>
            <a:off x="3337560" y="251460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337560" y="2560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Pre-Screened Candidates</a:t>
            </a:r>
            <a:endParaRPr lang="en-US" sz="620" dirty="0"/>
          </a:p>
        </p:txBody>
      </p:sp>
      <p:sp>
        <p:nvSpPr>
          <p:cNvPr id="45" name="Shape 41"/>
          <p:cNvSpPr/>
          <p:nvPr/>
        </p:nvSpPr>
        <p:spPr>
          <a:xfrm>
            <a:off x="3337560" y="292608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37560" y="29718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Sign-off Weekly Internship Milestones</a:t>
            </a:r>
            <a:endParaRPr lang="en-US" sz="620" dirty="0"/>
          </a:p>
        </p:txBody>
      </p:sp>
      <p:sp>
        <p:nvSpPr>
          <p:cNvPr id="47" name="Shape 43"/>
          <p:cNvSpPr/>
          <p:nvPr/>
        </p:nvSpPr>
        <p:spPr>
          <a:xfrm>
            <a:off x="3337560" y="333756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337560" y="3383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Joint Faculty R&amp;D Proposals</a:t>
            </a:r>
            <a:endParaRPr lang="en-US" sz="620" dirty="0"/>
          </a:p>
        </p:txBody>
      </p:sp>
      <p:sp>
        <p:nvSpPr>
          <p:cNvPr id="49" name="Shape 45"/>
          <p:cNvSpPr/>
          <p:nvPr/>
        </p:nvSpPr>
        <p:spPr>
          <a:xfrm>
            <a:off x="3337560" y="374904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337560" y="3794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NAAC/NIRF Compliance Audits</a:t>
            </a:r>
            <a:endParaRPr lang="en-US" sz="620" dirty="0"/>
          </a:p>
        </p:txBody>
      </p:sp>
      <p:sp>
        <p:nvSpPr>
          <p:cNvPr id="51" name="Shape 47"/>
          <p:cNvSpPr/>
          <p:nvPr/>
        </p:nvSpPr>
        <p:spPr>
          <a:xfrm>
            <a:off x="3337560" y="4160520"/>
            <a:ext cx="2468880" cy="34747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337560" y="4206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Pan-India Skill Demand Heatmap</a:t>
            </a:r>
            <a:endParaRPr lang="en-US" sz="620" dirty="0"/>
          </a:p>
        </p:txBody>
      </p:sp>
      <p:sp>
        <p:nvSpPr>
          <p:cNvPr id="53" name="Shape 49"/>
          <p:cNvSpPr/>
          <p:nvPr/>
        </p:nvSpPr>
        <p:spPr>
          <a:xfrm>
            <a:off x="6492240" y="137160"/>
            <a:ext cx="1920240" cy="320040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492240" y="164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6263640" y="548640"/>
            <a:ext cx="2423160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309360" y="58521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CLIENT APP / EDGE CDN</a:t>
            </a:r>
            <a:endParaRPr lang="en-US" sz="680" dirty="0"/>
          </a:p>
        </p:txBody>
      </p:sp>
      <p:sp>
        <p:nvSpPr>
          <p:cNvPr id="57" name="Text 53"/>
          <p:cNvSpPr/>
          <p:nvPr/>
        </p:nvSpPr>
        <p:spPr>
          <a:xfrm>
            <a:off x="6309360" y="7680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SPA • HTTPS • Cloudflare WAF • SSL Termination</a:t>
            </a:r>
            <a:endParaRPr lang="en-US" sz="620" dirty="0"/>
          </a:p>
        </p:txBody>
      </p:sp>
      <p:sp>
        <p:nvSpPr>
          <p:cNvPr id="58" name="Shape 54"/>
          <p:cNvSpPr/>
          <p:nvPr/>
        </p:nvSpPr>
        <p:spPr>
          <a:xfrm>
            <a:off x="6263640" y="1188720"/>
            <a:ext cx="2423160" cy="56692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309360" y="122529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INGRESS &amp; LOAD BALANCER</a:t>
            </a:r>
            <a:endParaRPr lang="en-US" sz="680" dirty="0"/>
          </a:p>
        </p:txBody>
      </p:sp>
      <p:sp>
        <p:nvSpPr>
          <p:cNvPr id="60" name="Text 56"/>
          <p:cNvSpPr/>
          <p:nvPr/>
        </p:nvSpPr>
        <p:spPr>
          <a:xfrm>
            <a:off x="6309360" y="140817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 Reverse Proxy • Rate Limiting • UUID Header Tracing</a:t>
            </a:r>
            <a:endParaRPr lang="en-US" sz="620" dirty="0"/>
          </a:p>
        </p:txBody>
      </p:sp>
      <p:sp>
        <p:nvSpPr>
          <p:cNvPr id="61" name="Shape 57"/>
          <p:cNvSpPr/>
          <p:nvPr/>
        </p:nvSpPr>
        <p:spPr>
          <a:xfrm>
            <a:off x="6263640" y="1828800"/>
            <a:ext cx="2423160" cy="566928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309360" y="186537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DOCKER SERVICE LAYER</a:t>
            </a:r>
            <a:endParaRPr lang="en-US" sz="680" dirty="0"/>
          </a:p>
        </p:txBody>
      </p:sp>
      <p:sp>
        <p:nvSpPr>
          <p:cNvPr id="63" name="Text 59"/>
          <p:cNvSpPr/>
          <p:nvPr/>
        </p:nvSpPr>
        <p:spPr>
          <a:xfrm>
            <a:off x="6309360" y="204825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 REST Services • JWT RBAC • Bcrypt • Helmet</a:t>
            </a:r>
            <a:endParaRPr lang="en-US" sz="620" dirty="0"/>
          </a:p>
        </p:txBody>
      </p:sp>
      <p:sp>
        <p:nvSpPr>
          <p:cNvPr id="64" name="Shape 60"/>
          <p:cNvSpPr/>
          <p:nvPr/>
        </p:nvSpPr>
        <p:spPr>
          <a:xfrm>
            <a:off x="6263640" y="2606040"/>
            <a:ext cx="2423160" cy="56692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309360" y="264261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IN-MEMORY CACHE</a:t>
            </a:r>
            <a:endParaRPr lang="en-US" sz="680" dirty="0"/>
          </a:p>
        </p:txBody>
      </p:sp>
      <p:sp>
        <p:nvSpPr>
          <p:cNvPr id="66" name="Text 62"/>
          <p:cNvSpPr/>
          <p:nvPr/>
        </p:nvSpPr>
        <p:spPr>
          <a:xfrm>
            <a:off x="6309360" y="28254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7 • Session Token Store • Assessment Rate Cache</a:t>
            </a:r>
            <a:endParaRPr lang="en-US" sz="620" dirty="0"/>
          </a:p>
        </p:txBody>
      </p:sp>
      <p:sp>
        <p:nvSpPr>
          <p:cNvPr id="67" name="Shape 63"/>
          <p:cNvSpPr/>
          <p:nvPr/>
        </p:nvSpPr>
        <p:spPr>
          <a:xfrm>
            <a:off x="6263640" y="3246120"/>
            <a:ext cx="2423160" cy="56692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6309360" y="328269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PERSISTENCE DATA LAYER</a:t>
            </a:r>
            <a:endParaRPr lang="en-US" sz="680" dirty="0"/>
          </a:p>
        </p:txBody>
      </p:sp>
      <p:sp>
        <p:nvSpPr>
          <p:cNvPr id="69" name="Text 65"/>
          <p:cNvSpPr/>
          <p:nvPr/>
        </p:nvSpPr>
        <p:spPr>
          <a:xfrm>
            <a:off x="6309360" y="346557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7.0+ Replica Set • 18 Schemas • Indexed Collections</a:t>
            </a:r>
            <a:endParaRPr lang="en-US" sz="620" dirty="0"/>
          </a:p>
        </p:txBody>
      </p:sp>
      <p:sp>
        <p:nvSpPr>
          <p:cNvPr id="70" name="Shape 66"/>
          <p:cNvSpPr/>
          <p:nvPr/>
        </p:nvSpPr>
        <p:spPr>
          <a:xfrm>
            <a:off x="6263640" y="3977640"/>
            <a:ext cx="2423160" cy="56692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309360" y="401421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MONITORING &amp; TELEMETRY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6309360" y="41970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Prometheus Metrics • Grafana Heatmaps • Immutable Audit Trail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j789\.gemini\antigravity\scratch\skillbridge-ayush\assets\sih\tea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pic>
        <p:nvPicPr>
          <p:cNvPr id="3" name="Image 1" descr="C:\Users\vj789\.gemini\antigravity\scratch\skillbridge-ayush\assets\sih\sih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"/>
            <a:ext cx="777240" cy="777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651760" y="137160"/>
            <a:ext cx="3840480" cy="347472"/>
          </a:xfrm>
          <a:prstGeom prst="roundRect">
            <a:avLst/>
          </a:prstGeom>
          <a:solidFill>
            <a:srgbClr val="FED7AA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651760" y="1645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FEASIBILITY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2926080" y="530352"/>
            <a:ext cx="3291840" cy="256032"/>
          </a:xfrm>
          <a:prstGeom prst="roundRect">
            <a:avLst/>
          </a:prstGeom>
          <a:solidFill>
            <a:srgbClr val="BAE6FD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926080" y="5577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MULTI-STAKEHOLDER VALUE &amp; REGULATORY COMPLIANCE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57200" y="914400"/>
            <a:ext cx="39319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94360" y="1024128"/>
            <a:ext cx="3657600" cy="256032"/>
          </a:xfrm>
          <a:prstGeom prst="roundRect">
            <a:avLst/>
          </a:prstGeom>
          <a:solidFill>
            <a:srgbClr val="CCFBF1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0607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👨‍🎓 STUDENTS &amp; ASPIRANTS — Objective Clarity &amp; Verified Hiring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40080" y="13350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Diagnostic assessment across 10 Ayush competencies eliminates resume bias.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40080" y="17190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Automated remedial learning path bridges deficits before graduation.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640080" y="21031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Cryptographically signed SHA-256 portfolio unlocks direct corporate interviews.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663440" y="914400"/>
            <a:ext cx="402336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00600" y="1024128"/>
            <a:ext cx="3749040" cy="256032"/>
          </a:xfrm>
          <a:prstGeom prst="roundRect">
            <a:avLst/>
          </a:prstGeom>
          <a:solidFill>
            <a:srgbClr val="E0F2FE"/>
          </a:solidFill>
          <a:ln/>
        </p:spPr>
      </p:sp>
      <p:sp>
        <p:nvSpPr>
          <p:cNvPr id="16" name="Text 12"/>
          <p:cNvSpPr/>
          <p:nvPr/>
        </p:nvSpPr>
        <p:spPr>
          <a:xfrm>
            <a:off x="4846320" y="10607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🏭 AYUSH INDUSTRY &amp; RECRUITERS — 70% Screening Overhead Reduction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846320" y="13350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Pre-screened talent certified in Schedule T GMP &amp; Clinical Documentation.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846320" y="17190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5-Factor compatibility score eliminates unvetted resume screening.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4846320" y="21031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Weekly milestone sign-offs ensure structured internship deliverables.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57200" y="2834640"/>
            <a:ext cx="393192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4360" y="2944368"/>
            <a:ext cx="3657600" cy="256032"/>
          </a:xfrm>
          <a:prstGeom prst="roundRect">
            <a:avLst/>
          </a:prstGeom>
          <a:solidFill>
            <a:srgbClr val="F3E8FF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" y="29809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FACULTY &amp; ACADEMIA — Funded Research &amp; Industry Sabbaticals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40080" y="32552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Publish research capabilities and bid directly on corporate consulting RFPs.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640080" y="36393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Apply for industry-sponsored sabbaticals in certified manufacturing plants.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640080" y="4023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Curriculum feedback loops highlight missing market topics for syllabus updates.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4663440" y="2834640"/>
            <a:ext cx="402336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00600" y="2944368"/>
            <a:ext cx="3749040" cy="256032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28" name="Text 24"/>
          <p:cNvSpPr/>
          <p:nvPr/>
        </p:nvSpPr>
        <p:spPr>
          <a:xfrm>
            <a:off x="4846320" y="29809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 INSTITUTES &amp; MINISTRY OF AYUSH — NAAC / NIRF Audits &amp; National Telemetry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846320" y="32552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Real-time institutional placement velocity and candidate absorption rates.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4846320" y="36393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W3C-compliant audit logs provide instant export for NAAC &amp; NCISM accreditation.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846320" y="40233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National workforce heatmap empowers data-driven skill policy interventions.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457200" y="4617720"/>
            <a:ext cx="8229600" cy="384048"/>
          </a:xfrm>
          <a:prstGeom prst="roundRect">
            <a:avLst/>
          </a:prstGeom>
          <a:solidFill>
            <a:srgbClr val="064E3B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" y="470001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E6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TARGET IMPACT:  70% Faster Hiring  |  85%+ Match Fit  |  100% Cryptographic Verification  |  Aligned with NEP 2020 &amp; Ayush Vision 2030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j789\.gemini\antigravity\scratch\skillbridge-ayush\assets\sih\tea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37160"/>
            <a:ext cx="685800" cy="685800"/>
          </a:xfrm>
          <a:prstGeom prst="rect">
            <a:avLst/>
          </a:prstGeom>
        </p:spPr>
      </p:pic>
      <p:pic>
        <p:nvPicPr>
          <p:cNvPr id="3" name="Image 1" descr="C:\Users\vj789\.gemini\antigravity\scratch\skillbridge-ayush\assets\sih\sih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91440"/>
            <a:ext cx="777240" cy="777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560320" y="137160"/>
            <a:ext cx="4023360" cy="347472"/>
          </a:xfrm>
          <a:prstGeom prst="roundRect">
            <a:avLst/>
          </a:prstGeom>
          <a:solidFill>
            <a:srgbClr val="FED7AA"/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560320" y="1645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AND REFERENCE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2743200" y="530352"/>
            <a:ext cx="3657600" cy="25603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DBA7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0" y="566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RESEARCH &amp; OFFICIAL DOCUMENTS: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Drugs &amp; Cosmetics Act, 1940 — Schedule T (Good Manufacturing Practices for Ayurvedic Siddha &amp; Unani Medicines).
</a:t>
            </a:r>
            <a:pPr indent="0" marL="0">
              <a:buNone/>
            </a:pPr>
            <a:r>
              <a:rPr lang="en-US" sz="700" u="sng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https://ayush.gov.in/docs/schedule-t-gmp.pdf
</a:t>
            </a:r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Education Policy (NEP 2020) — Experiential Learning, Credit-Based Internships &amp; Industry Syllabi Sync.
</a:t>
            </a:r>
            <a:pPr indent="0" marL="0">
              <a:buNone/>
            </a:pPr>
            <a:r>
              <a:rPr lang="en-US" sz="700" u="sng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https://www.education.gov.in/sites/upload_files/mhrd/files/NEP_Final_English_0.pdf
</a:t>
            </a:r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Verifiable Credentials Data Model v1.1 — Cryptographic Micro-Credential Transparency Architecture.
</a:t>
            </a:r>
            <a:pPr indent="0" marL="0">
              <a:buNone/>
            </a:pPr>
            <a:r>
              <a:rPr lang="en-US" sz="700" u="sng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https://www.w3.org/TR/vc-data-model/</a:t>
            </a:r>
            <a:endParaRPr lang="en-US" sz="720" dirty="0"/>
          </a:p>
        </p:txBody>
      </p:sp>
      <p:sp>
        <p:nvSpPr>
          <p:cNvPr id="9" name="Shape 5"/>
          <p:cNvSpPr/>
          <p:nvPr/>
        </p:nvSpPr>
        <p:spPr>
          <a:xfrm>
            <a:off x="3017520" y="1783080"/>
            <a:ext cx="3108960" cy="219456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10" name="Text 6"/>
          <p:cNvSpPr/>
          <p:nvPr/>
        </p:nvSpPr>
        <p:spPr>
          <a:xfrm>
            <a:off x="3017520" y="181051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FROM WHERE WE TOOK REFERENCES: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457200" y="2029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u="sng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https://ayush.gov.in  • https://ncismindia.org  • https://abdm.gov.in  • https://aicte-india.org  • https://github.com/jaiswalvaibhav789/Skill.Bridge</a:t>
            </a:r>
            <a:endParaRPr lang="en-US" sz="720" dirty="0"/>
          </a:p>
        </p:txBody>
      </p:sp>
      <p:sp>
        <p:nvSpPr>
          <p:cNvPr id="12" name="Shape 8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62272" y="2194560"/>
            <a:ext cx="219456" cy="182880"/>
          </a:xfrm>
          <a:prstGeom prst="diamond">
            <a:avLst/>
          </a:prstGeom>
          <a:solidFill>
            <a:srgbClr val="000000"/>
          </a:solidFill>
          <a:ln/>
        </p:spPr>
      </p:sp>
      <p:sp>
        <p:nvSpPr>
          <p:cNvPr id="14" name="Shape 10"/>
          <p:cNvSpPr/>
          <p:nvPr/>
        </p:nvSpPr>
        <p:spPr>
          <a:xfrm>
            <a:off x="3474720" y="2395728"/>
            <a:ext cx="2194560" cy="292608"/>
          </a:xfrm>
          <a:prstGeom prst="roundRect">
            <a:avLst/>
          </a:prstGeom>
          <a:solidFill>
            <a:srgbClr val="FED7AA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24231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270662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walkthrough : </a:t>
            </a:r>
            <a:pPr algn="ctr" indent="0" marL="0">
              <a:buNone/>
            </a:pPr>
            <a:r>
              <a:rPr lang="en-US" sz="850" b="1" u="sng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HERE (Live Video)  </a:t>
            </a:r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Full Demonstration: </a:t>
            </a:r>
            <a:pPr algn="ctr" indent="0" marL="0">
              <a:buNone/>
            </a:pPr>
            <a:r>
              <a:rPr lang="en-US" sz="850" b="1" u="sng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HERE (GitHub Repo)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31520" y="2944368"/>
            <a:ext cx="914400" cy="201168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297180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680" dirty="0"/>
          </a:p>
        </p:txBody>
      </p:sp>
      <p:pic>
        <p:nvPicPr>
          <p:cNvPr id="19" name="Image 2" descr="C:\Users\vj789\.gemini\antigravity\scratch\skillbridge-ayush\assets\sih\mobile_mocku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82112"/>
            <a:ext cx="1280160" cy="17830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017520" y="2944368"/>
            <a:ext cx="2377440" cy="201168"/>
          </a:xfrm>
          <a:prstGeom prst="roundRect">
            <a:avLst/>
          </a:prstGeom>
          <a:solidFill>
            <a:srgbClr val="E0E7FF"/>
          </a:solidFill>
          <a:ln/>
        </p:spPr>
      </p:sp>
      <p:sp>
        <p:nvSpPr>
          <p:cNvPr id="21" name="Text 16"/>
          <p:cNvSpPr/>
          <p:nvPr/>
        </p:nvSpPr>
        <p:spPr>
          <a:xfrm>
            <a:off x="3017520" y="297180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MICROSERVICES &amp; ALGORITHMIC ENGINE</a:t>
            </a:r>
            <a:endParaRPr lang="en-US" sz="680" dirty="0"/>
          </a:p>
        </p:txBody>
      </p:sp>
      <p:sp>
        <p:nvSpPr>
          <p:cNvPr id="22" name="Shape 17"/>
          <p:cNvSpPr/>
          <p:nvPr/>
        </p:nvSpPr>
        <p:spPr>
          <a:xfrm>
            <a:off x="2011680" y="3182112"/>
            <a:ext cx="4389120" cy="1783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103120" y="3218688"/>
            <a:ext cx="4206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tests/run_all_tests.js
</a:t>
            </a:r>
            <a:pPr indent="0" marL="0">
              <a:buNone/>
            </a:pPr>
            <a:r>
              <a:rPr lang="en-US" sz="5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[AUTH SUITE] JWT token rotation &amp; 5-role guards (12/12 passed)
</a:t>
            </a:r>
            <a:pPr indent="0" marL="0">
              <a:buNone/>
            </a:pPr>
            <a:r>
              <a:rPr lang="en-US" sz="5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[ASSESSMENT] 10 Ayush competency MCQ auto-grader (10/10 passed)
</a:t>
            </a:r>
            <a:pPr indent="0" marL="0">
              <a:buNone/>
            </a:pPr>
            <a:r>
              <a:rPr lang="en-US" sz="5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[GAP ENGINE] 5-Tier Deficit Vector formulation (8/8 passed)
</a:t>
            </a:r>
            <a:pPr indent="0" marL="0">
              <a:buNone/>
            </a:pPr>
            <a:r>
              <a:rPr lang="en-US" sz="5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[MATCHING] 5-Factor Weighted Compatibility Scoring (15/15 passed)
</a:t>
            </a:r>
            <a:pPr indent="0" marL="0">
              <a:buNone/>
            </a:pPr>
            <a:r>
              <a:rPr lang="en-US" sz="5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[LEDGER] SHA-256 deterministic W3C credentials (14/14 passed)
</a:t>
            </a:r>
            <a:pPr indent="0" marL="0">
              <a:buNone/>
            </a:pPr>
            <a:r>
              <a:rPr lang="en-US" sz="58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[MILESTONES] 6-Stage internship state transitions (16/16 passed)
</a:t>
            </a:r>
            <a:pPr indent="0" marL="0">
              <a:buNone/>
            </a:pPr>
            <a:r>
              <a:rPr lang="en-US" sz="5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
</a:t>
            </a:r>
            <a:pPr indent="0" marL="0">
              <a:buNone/>
            </a:pPr>
            <a:r>
              <a:rPr lang="en-US" sz="62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STATUS: 10 SUITES / 97 TESTS PASSING (100% GREEN)</a:t>
            </a:r>
            <a:endParaRPr lang="en-US" sz="620" dirty="0"/>
          </a:p>
        </p:txBody>
      </p:sp>
      <p:sp>
        <p:nvSpPr>
          <p:cNvPr id="24" name="Shape 19"/>
          <p:cNvSpPr/>
          <p:nvPr/>
        </p:nvSpPr>
        <p:spPr>
          <a:xfrm>
            <a:off x="7040880" y="2944368"/>
            <a:ext cx="1097280" cy="201168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25" name="Text 20"/>
          <p:cNvSpPr/>
          <p:nvPr/>
        </p:nvSpPr>
        <p:spPr>
          <a:xfrm>
            <a:off x="7040880" y="297180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DASHBOARD</a:t>
            </a:r>
            <a:endParaRPr lang="en-US" sz="680" dirty="0"/>
          </a:p>
        </p:txBody>
      </p:sp>
      <p:pic>
        <p:nvPicPr>
          <p:cNvPr id="26" name="Image 3" descr="C:\Users\vj789\.gemini\antigravity\scratch\skillbridge-ayush\assets\sih\web_mocku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182112"/>
            <a:ext cx="2011680" cy="178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2026-09-20T17:47:46Z</dcterms:created>
  <dcterms:modified xsi:type="dcterms:W3CDTF">2026-09-20T17:47:46Z</dcterms:modified>
</cp:coreProperties>
</file>